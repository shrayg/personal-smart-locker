
<file path=[Content_Types].xml><?xml version="1.0" encoding="utf-8"?>
<Types xmlns="http://schemas.openxmlformats.org/package/2006/content-types"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18.xml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15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17.xml"/>
  <Override ContentType="application/vnd.openxmlformats-officedocument.presentationml.notesSlide+xml" PartName="/ppt/notesSlides/notesSlide16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.xml"/>
  <Override ContentType="application/vnd.openxmlformats-officedocument.presentationml.slideMaster+xml" PartName="/ppt/slideMasters/slideMaster1.xml"/>
  <Override ContentType="application/binary" PartName="/ppt/metadata"/>
  <Override ContentType="application/vnd.openxmlformats-officedocument.presentationml.slide+xml" PartName="/ppt/slides/slide4.xml"/>
  <Override ContentType="application/vnd.openxmlformats-officedocument.presentationml.slide+xml" PartName="/ppt/slides/slide18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7.xml"/>
  <Override ContentType="application/vnd.openxmlformats-officedocument.presentationml.slide+xml" PartName="/ppt/slides/slide15.xml"/>
  <Override ContentType="application/vnd.openxmlformats-officedocument.presentationml.slide+xml" PartName="/ppt/slides/slide12.xml"/>
  <Override ContentType="application/vnd.openxmlformats-officedocument.presentationml.slide+xml" PartName="/ppt/slides/slide17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16.xml"/>
  <Override ContentType="application/vnd.openxmlformats-officedocument.presentationml.slide+xml" PartName="/ppt/slides/slide8.xml"/>
  <Override ContentType="application/vnd.openxmlformats-officedocument.presentationml.slide+xml" PartName="/ppt/slides/slide14.xml"/>
  <Override ContentType="application/vnd.openxmlformats-officedocument.presentationml.notesMaster+xml" PartName="/ppt/notesMasters/notesMaster1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</Types>
</file>

<file path=_rels/.rels><?xml version="1.0" encoding="UTF-8" standalone="yes"?>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strictFirstAndLastChars="0" saveSubsetFonts="1">
  <p:sldMasterIdLst>
    <p:sldMasterId id="2147483648" r:id="rId3"/>
  </p:sldMasterIdLst>
  <p:notesMasterIdLst>
    <p:notesMasterId r:id="rId4"/>
  </p:notesMasterIdLst>
  <p:sldIdLst>
    <p:sldId id="256" r:id="rId5"/>
    <p:sldId id="257" r:id="rId6"/>
    <p:sldId id="258" r:id="rId7"/>
    <p:sldId id="259" r:id="rId8"/>
    <p:sldId id="260" r:id="rId9"/>
    <p:sldId id="261" r:id="rId10"/>
    <p:sldId id="262" r:id="rId11"/>
    <p:sldId id="263" r:id="rId12"/>
    <p:sldId id="264" r:id="rId13"/>
    <p:sldId id="265" r:id="rId14"/>
    <p:sldId id="266" r:id="rId15"/>
    <p:sldId id="267" r:id="rId16"/>
    <p:sldId id="268" r:id="rId17"/>
    <p:sldId id="269" r:id="rId18"/>
    <p:sldId id="270" r:id="rId19"/>
    <p:sldId id="271" r:id="rId20"/>
    <p:sldId id="272" r:id="rId21"/>
    <p:sldId id="273" r:id="rId22"/>
  </p:sldIdLst>
  <p:sldSz cy="6858000" cx="12192000"/>
  <p:notesSz cx="6858000" cy="9144000"/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GoogleSlidesCustomDataVersion2">
      <go:slidesCustomData xmlns:go="http://customooxmlschemas.google.com/" r:id="rId23" roundtripDataSignature="AMtx7mhDGpd+w6Ro9JB+jTC7lxEZ3hIfVQ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_rels/presentation.xml.rels><?xml version="1.0" encoding="UTF-8" standalone="yes"?><Relationships xmlns="http://schemas.openxmlformats.org/package/2006/relationships"><Relationship Id="rId20" Type="http://schemas.openxmlformats.org/officeDocument/2006/relationships/slide" Target="slides/slide16.xml"/><Relationship Id="rId11" Type="http://schemas.openxmlformats.org/officeDocument/2006/relationships/slide" Target="slides/slide7.xml"/><Relationship Id="rId22" Type="http://schemas.openxmlformats.org/officeDocument/2006/relationships/slide" Target="slides/slide18.xml"/><Relationship Id="rId10" Type="http://schemas.openxmlformats.org/officeDocument/2006/relationships/slide" Target="slides/slide6.xml"/><Relationship Id="rId21" Type="http://schemas.openxmlformats.org/officeDocument/2006/relationships/slide" Target="slides/slide17.xml"/><Relationship Id="rId13" Type="http://schemas.openxmlformats.org/officeDocument/2006/relationships/slide" Target="slides/slide9.xml"/><Relationship Id="rId12" Type="http://schemas.openxmlformats.org/officeDocument/2006/relationships/slide" Target="slides/slide8.xml"/><Relationship Id="rId23" Type="http://customschemas.google.com/relationships/presentationmetadata" Target="metadata"/><Relationship Id="rId1" Type="http://schemas.openxmlformats.org/officeDocument/2006/relationships/theme" Target="theme/theme1.xml"/><Relationship Id="rId2" Type="http://schemas.openxmlformats.org/officeDocument/2006/relationships/presProps" Target="presProps.xml"/><Relationship Id="rId3" Type="http://schemas.openxmlformats.org/officeDocument/2006/relationships/slideMaster" Target="slideMasters/slideMaster1.xml"/><Relationship Id="rId4" Type="http://schemas.openxmlformats.org/officeDocument/2006/relationships/notesMaster" Target="notesMasters/notesMaster1.xml"/><Relationship Id="rId9" Type="http://schemas.openxmlformats.org/officeDocument/2006/relationships/slide" Target="slides/slide5.xml"/><Relationship Id="rId15" Type="http://schemas.openxmlformats.org/officeDocument/2006/relationships/slide" Target="slides/slide11.xml"/><Relationship Id="rId14" Type="http://schemas.openxmlformats.org/officeDocument/2006/relationships/slide" Target="slides/slide10.xml"/><Relationship Id="rId17" Type="http://schemas.openxmlformats.org/officeDocument/2006/relationships/slide" Target="slides/slide13.xml"/><Relationship Id="rId16" Type="http://schemas.openxmlformats.org/officeDocument/2006/relationships/slide" Target="slides/slide12.xml"/><Relationship Id="rId5" Type="http://schemas.openxmlformats.org/officeDocument/2006/relationships/slide" Target="slides/slide1.xml"/><Relationship Id="rId19" Type="http://schemas.openxmlformats.org/officeDocument/2006/relationships/slide" Target="slides/slide15.xml"/><Relationship Id="rId6" Type="http://schemas.openxmlformats.org/officeDocument/2006/relationships/slide" Target="slides/slide2.xml"/><Relationship Id="rId18" Type="http://schemas.openxmlformats.org/officeDocument/2006/relationships/slide" Target="slides/slide14.xml"/><Relationship Id="rId7" Type="http://schemas.openxmlformats.org/officeDocument/2006/relationships/slide" Target="slides/slide3.xml"/><Relationship Id="rId8" Type="http://schemas.openxmlformats.org/officeDocument/2006/relationships/slide" Target="slides/slide4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9AA8A3"/>
        </a:solidFill>
      </p:bgPr>
    </p:bg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accent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228600" lvl="1" marL="914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accent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228600" lvl="2" marL="1371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accent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228600" lvl="3" marL="1828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accent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228600" lvl="4" marL="2286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accent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228600" lvl="5" marL="2743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accent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228600" lvl="6" marL="3200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accent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228600" lvl="7" marL="3657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accent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228600" lvl="8" marL="4114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accent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4" name="Shape 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Google Shape;25;p1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26" name="Google Shape;26;p1:notes"/>
          <p:cNvSpPr txBox="1"/>
          <p:nvPr>
            <p:ph idx="1" type="body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3" name="Shape 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Google Shape;34;p2:notes"/>
          <p:cNvSpPr txBox="1"/>
          <p:nvPr>
            <p:ph idx="1" type="body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35" name="Google Shape;35;p2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9" name="Shape 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" name="Google Shape;40;p3:notes"/>
          <p:cNvSpPr txBox="1"/>
          <p:nvPr>
            <p:ph idx="1" type="body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41" name="Google Shape;41;p3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5" name="Shape 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" name="Google Shape;46;p4:notes"/>
          <p:cNvSpPr txBox="1"/>
          <p:nvPr>
            <p:ph idx="1" type="body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47" name="Google Shape;47;p4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2" name="Shape 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" name="Google Shape;53;g3d5e9c351c5_0_2:notes"/>
          <p:cNvSpPr txBox="1"/>
          <p:nvPr>
            <p:ph idx="1" type="body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54" name="Google Shape;54;g3d5e9c351c5_0_2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9" name="Shape 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" name="Google Shape;60;g3d5e9c351c5_0_9:notes"/>
          <p:cNvSpPr txBox="1"/>
          <p:nvPr>
            <p:ph idx="1" type="body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61" name="Google Shape;61;g3d5e9c351c5_0_9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6" name="Shape 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" name="Google Shape;67;g3d5e9c351c5_0_16:notes"/>
          <p:cNvSpPr txBox="1"/>
          <p:nvPr>
            <p:ph idx="1" type="body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68" name="Google Shape;68;g3d5e9c351c5_0_16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3" name="Shape 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" name="Google Shape;74;g3d5e9c351c5_0_23:notes"/>
          <p:cNvSpPr txBox="1"/>
          <p:nvPr>
            <p:ph idx="1" type="body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75" name="Google Shape;75;g3d5e9c351c5_0_23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0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g3c6d360cc26_0_41:notes"/>
          <p:cNvSpPr txBox="1"/>
          <p:nvPr>
            <p:ph idx="1" type="body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82" name="Google Shape;82;g3c6d360cc26_0_41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6" name="Shape 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" name="Google Shape;87;p5:notes"/>
          <p:cNvSpPr txBox="1"/>
          <p:nvPr>
            <p:ph idx="1" type="body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88" name="Google Shape;88;p5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2" name="Shape 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" name="Google Shape;93;g396eb07d7e1_0_5:notes"/>
          <p:cNvSpPr txBox="1"/>
          <p:nvPr>
            <p:ph idx="1" type="body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94" name="Google Shape;94;g396eb07d7e1_0_5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9" name="Shape 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" name="Google Shape;100;g3c87ce2a240_0_29:notes"/>
          <p:cNvSpPr txBox="1"/>
          <p:nvPr>
            <p:ph idx="1" type="body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101" name="Google Shape;101;g3c87ce2a240_0_29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5" name="Shape 1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6" name="Google Shape;106;g396eb07d7e1_0_69:notes"/>
          <p:cNvSpPr txBox="1"/>
          <p:nvPr>
            <p:ph idx="1" type="body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107" name="Google Shape;107;g396eb07d7e1_0_69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1" name="Shape 1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" name="Google Shape;112;g396eb07d7e1_0_74:notes"/>
          <p:cNvSpPr txBox="1"/>
          <p:nvPr>
            <p:ph idx="1" type="body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113" name="Google Shape;113;g396eb07d7e1_0_74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8" name="Shape 1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9" name="Google Shape;119;g396eb07d7e1_0_83:notes"/>
          <p:cNvSpPr txBox="1"/>
          <p:nvPr>
            <p:ph idx="1" type="body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120" name="Google Shape;120;g396eb07d7e1_0_83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5" name="Shape 1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6" name="Google Shape;126;g3d5e9c351c5_0_55:notes"/>
          <p:cNvSpPr txBox="1"/>
          <p:nvPr>
            <p:ph idx="1" type="body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127" name="Google Shape;127;g3d5e9c351c5_0_55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2" name="Shape 1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" name="Google Shape;133;g3c87ce2a240_0_37:notes"/>
          <p:cNvSpPr txBox="1"/>
          <p:nvPr>
            <p:ph idx="1" type="body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134" name="Google Shape;134;g3c87ce2a240_0_37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8" name="Shape 1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9" name="Google Shape;139;p6:notes"/>
          <p:cNvSpPr txBox="1"/>
          <p:nvPr>
            <p:ph idx="1" type="body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140" name="Google Shape;140;p6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4.png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3.png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empty background">
  <p:cSld name="white corner logo, maroon corner">
    <p:bg>
      <p:bgPr>
        <a:solidFill>
          <a:srgbClr val="FFFFFF"/>
        </a:solidFill>
      </p:bgPr>
    </p:bg>
    <p:spTree>
      <p:nvGrpSpPr>
        <p:cNvPr id="8" name="Shape 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Google Shape;9;p9"/>
          <p:cNvSpPr/>
          <p:nvPr/>
        </p:nvSpPr>
        <p:spPr>
          <a:xfrm>
            <a:off x="-15607" y="-643262"/>
            <a:ext cx="12223214" cy="814452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45700" spcFirstLastPara="1" rIns="45700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chemeClr val="accen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" name="Google Shape;10;p9"/>
          <p:cNvSpPr txBox="1"/>
          <p:nvPr>
            <p:ph type="title"/>
          </p:nvPr>
        </p:nvSpPr>
        <p:spPr>
          <a:xfrm>
            <a:off x="838200" y="2620451"/>
            <a:ext cx="10515600" cy="1540041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2060"/>
              </a:buClr>
              <a:buSzPts val="3500"/>
              <a:buFont typeface="Arial"/>
              <a:buNone/>
              <a:defRPr>
                <a:solidFill>
                  <a:srgbClr val="002060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800"/>
              <a:buNone/>
              <a:defRPr/>
            </a:lvl2pPr>
            <a:lvl3pPr lvl="2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800"/>
              <a:buNone/>
              <a:defRPr/>
            </a:lvl3pPr>
            <a:lvl4pPr lvl="3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800"/>
              <a:buNone/>
              <a:defRPr/>
            </a:lvl4pPr>
            <a:lvl5pPr lvl="4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800"/>
              <a:buNone/>
              <a:defRPr/>
            </a:lvl5pPr>
            <a:lvl6pPr lvl="5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800"/>
              <a:buNone/>
              <a:defRPr/>
            </a:lvl6pPr>
            <a:lvl7pPr lvl="6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800"/>
              <a:buNone/>
              <a:defRPr/>
            </a:lvl7pPr>
            <a:lvl8pPr lvl="7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800"/>
              <a:buNone/>
              <a:defRPr/>
            </a:lvl8pPr>
            <a:lvl9pPr lvl="8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800"/>
              <a:buNone/>
              <a:defRPr/>
            </a:lvl9pPr>
          </a:lstStyle>
          <a:p/>
        </p:txBody>
      </p:sp>
      <p:sp>
        <p:nvSpPr>
          <p:cNvPr id="11" name="Google Shape;11;p9"/>
          <p:cNvSpPr/>
          <p:nvPr/>
        </p:nvSpPr>
        <p:spPr>
          <a:xfrm>
            <a:off x="9254059" y="-6100"/>
            <a:ext cx="2940214" cy="875893"/>
          </a:xfrm>
          <a:prstGeom prst="rect">
            <a:avLst/>
          </a:prstGeom>
          <a:solidFill>
            <a:schemeClr val="dk1"/>
          </a:solidFill>
          <a:ln cap="flat" cmpd="sng" w="12700">
            <a:solidFill>
              <a:schemeClr val="accent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45700" spcFirstLastPara="1" rIns="45700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chemeClr val="accen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12" name="Google Shape;12;p9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9628836" y="257770"/>
            <a:ext cx="2053002" cy="387789"/>
          </a:xfrm>
          <a:prstGeom prst="rect">
            <a:avLst/>
          </a:prstGeom>
          <a:noFill/>
          <a:ln>
            <a:noFill/>
          </a:ln>
        </p:spPr>
      </p:pic>
      <p:sp>
        <p:nvSpPr>
          <p:cNvPr id="13" name="Google Shape;13;p9"/>
          <p:cNvSpPr txBox="1"/>
          <p:nvPr>
            <p:ph idx="1" type="body"/>
          </p:nvPr>
        </p:nvSpPr>
        <p:spPr>
          <a:xfrm>
            <a:off x="960438" y="4491038"/>
            <a:ext cx="5661025" cy="54451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SzPts val="2800"/>
              <a:buNone/>
              <a:defRPr>
                <a:latin typeface="Arial"/>
                <a:ea typeface="Arial"/>
                <a:cs typeface="Arial"/>
                <a:sym typeface="Arial"/>
              </a:defRPr>
            </a:lvl1pPr>
            <a:lvl2pPr indent="-406400" lvl="1" marL="9144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SzPts val="2800"/>
              <a:buChar char="•"/>
              <a:defRPr/>
            </a:lvl2pPr>
            <a:lvl3pPr indent="-406400" lvl="2" marL="1371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SzPts val="2800"/>
              <a:buChar char="•"/>
              <a:defRPr/>
            </a:lvl3pPr>
            <a:lvl4pPr indent="-406400" lvl="3" marL="18288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SzPts val="2800"/>
              <a:buChar char="•"/>
              <a:defRPr/>
            </a:lvl4pPr>
            <a:lvl5pPr indent="-406400" lvl="4" marL="22860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SzPts val="2800"/>
              <a:buChar char="•"/>
              <a:defRPr/>
            </a:lvl5pPr>
            <a:lvl6pPr indent="-406400" lvl="5" marL="2743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SzPts val="2800"/>
              <a:buChar char="•"/>
              <a:defRPr/>
            </a:lvl6pPr>
            <a:lvl7pPr indent="-406400" lvl="6" marL="32004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SzPts val="2800"/>
              <a:buChar char="•"/>
              <a:defRPr/>
            </a:lvl7pPr>
            <a:lvl8pPr indent="-406400" lvl="7" marL="3657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SzPts val="2800"/>
              <a:buChar char="•"/>
              <a:defRPr/>
            </a:lvl8pPr>
            <a:lvl9pPr indent="-406400" lvl="8" marL="41148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SzPts val="2800"/>
              <a:buChar char="•"/>
              <a:defRPr/>
            </a:lvl9pPr>
          </a:lstStyle>
          <a:p/>
        </p:txBody>
      </p:sp>
      <p:sp>
        <p:nvSpPr>
          <p:cNvPr id="14" name="Google Shape;14;p9"/>
          <p:cNvSpPr txBox="1"/>
          <p:nvPr>
            <p:ph idx="2" type="body"/>
          </p:nvPr>
        </p:nvSpPr>
        <p:spPr>
          <a:xfrm>
            <a:off x="960438" y="5208588"/>
            <a:ext cx="5661025" cy="54451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SzPts val="2800"/>
              <a:buNone/>
              <a:defRPr>
                <a:latin typeface="Arial"/>
                <a:ea typeface="Arial"/>
                <a:cs typeface="Arial"/>
                <a:sym typeface="Arial"/>
              </a:defRPr>
            </a:lvl1pPr>
            <a:lvl2pPr indent="-406400" lvl="1" marL="9144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SzPts val="2800"/>
              <a:buChar char="•"/>
              <a:defRPr/>
            </a:lvl2pPr>
            <a:lvl3pPr indent="-406400" lvl="2" marL="1371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SzPts val="2800"/>
              <a:buChar char="•"/>
              <a:defRPr/>
            </a:lvl3pPr>
            <a:lvl4pPr indent="-406400" lvl="3" marL="18288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SzPts val="2800"/>
              <a:buChar char="•"/>
              <a:defRPr/>
            </a:lvl4pPr>
            <a:lvl5pPr indent="-406400" lvl="4" marL="22860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SzPts val="2800"/>
              <a:buChar char="•"/>
              <a:defRPr/>
            </a:lvl5pPr>
            <a:lvl6pPr indent="-406400" lvl="5" marL="2743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SzPts val="2800"/>
              <a:buChar char="•"/>
              <a:defRPr/>
            </a:lvl6pPr>
            <a:lvl7pPr indent="-406400" lvl="6" marL="32004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SzPts val="2800"/>
              <a:buChar char="•"/>
              <a:defRPr/>
            </a:lvl7pPr>
            <a:lvl8pPr indent="-406400" lvl="7" marL="3657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SzPts val="2800"/>
              <a:buChar char="•"/>
              <a:defRPr/>
            </a:lvl8pPr>
            <a:lvl9pPr indent="-406400" lvl="8" marL="41148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SzPts val="2800"/>
              <a:buChar char="•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logo corner">
  <p:cSld name="main logo corner">
    <p:spTree>
      <p:nvGrpSpPr>
        <p:cNvPr id="15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10"/>
          <p:cNvSpPr txBox="1"/>
          <p:nvPr>
            <p:ph type="title"/>
          </p:nvPr>
        </p:nvSpPr>
        <p:spPr>
          <a:xfrm>
            <a:off x="838200" y="238871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3500"/>
              <a:buNone/>
              <a:defRPr>
                <a:solidFill>
                  <a:schemeClr val="accent1"/>
                </a:solidFill>
              </a:defRPr>
            </a:lvl1pPr>
            <a:lvl2pPr lvl="1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2pPr>
            <a:lvl3pPr lvl="2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3pPr>
            <a:lvl4pPr lvl="3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4pPr>
            <a:lvl5pPr lvl="4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5pPr>
            <a:lvl6pPr lvl="5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6pPr>
            <a:lvl7pPr lvl="6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7pPr>
            <a:lvl8pPr lvl="7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8pPr>
            <a:lvl9pPr lvl="8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9pPr>
          </a:lstStyle>
          <a:p/>
        </p:txBody>
      </p:sp>
      <p:sp>
        <p:nvSpPr>
          <p:cNvPr id="17" name="Google Shape;17;p10"/>
          <p:cNvSpPr txBox="1"/>
          <p:nvPr>
            <p:ph idx="1" type="body"/>
          </p:nvPr>
        </p:nvSpPr>
        <p:spPr>
          <a:xfrm>
            <a:off x="838200" y="1564434"/>
            <a:ext cx="10515600" cy="432107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marR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ts val="2800"/>
              <a:buFont typeface="Arial"/>
              <a:buNone/>
              <a:defRPr b="0" i="0" sz="2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406400" lvl="1" marL="914400" marR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ts val="2800"/>
              <a:buFont typeface="Arial"/>
              <a:buChar char="•"/>
              <a:defRPr b="0" i="0" sz="2800" u="none" cap="none" strike="noStrike">
                <a:solidFill>
                  <a:schemeClr val="accent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406400" lvl="2" marL="1371600" marR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ts val="2800"/>
              <a:buFont typeface="Arial"/>
              <a:buChar char="•"/>
              <a:defRPr b="0" i="0" sz="2800" u="none" cap="none" strike="noStrike">
                <a:solidFill>
                  <a:schemeClr val="accent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406400" lvl="3" marL="1828800" marR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ts val="2800"/>
              <a:buFont typeface="Arial"/>
              <a:buChar char="•"/>
              <a:defRPr b="0" i="0" sz="2800" u="none" cap="none" strike="noStrike">
                <a:solidFill>
                  <a:schemeClr val="accent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406400" lvl="4" marL="2286000" marR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ts val="2800"/>
              <a:buFont typeface="Arial"/>
              <a:buChar char="•"/>
              <a:defRPr b="0" i="0" sz="2800" u="none" cap="none" strike="noStrike">
                <a:solidFill>
                  <a:schemeClr val="accent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406400" lvl="5" marL="2743200" marR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ts val="2800"/>
              <a:buFont typeface="Arial"/>
              <a:buChar char="•"/>
              <a:defRPr b="0" i="0" sz="2800" u="none" cap="none" strike="noStrike">
                <a:solidFill>
                  <a:schemeClr val="accent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406400" lvl="6" marL="3200400" marR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ts val="2800"/>
              <a:buFont typeface="Arial"/>
              <a:buChar char="•"/>
              <a:defRPr b="0" i="0" sz="2800" u="none" cap="none" strike="noStrike">
                <a:solidFill>
                  <a:schemeClr val="accent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406400" lvl="7" marL="3657600" marR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ts val="2800"/>
              <a:buFont typeface="Arial"/>
              <a:buChar char="•"/>
              <a:defRPr b="0" i="0" sz="2800" u="none" cap="none" strike="noStrike">
                <a:solidFill>
                  <a:schemeClr val="accent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406400" lvl="8" marL="4114800" marR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ts val="2800"/>
              <a:buFont typeface="Arial"/>
              <a:buChar char="•"/>
              <a:defRPr b="0" i="0" sz="2800" u="none" cap="none" strike="noStrike">
                <a:solidFill>
                  <a:schemeClr val="accent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pic>
        <p:nvPicPr>
          <p:cNvPr id="18" name="Google Shape;18;p10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345374" y="6218073"/>
            <a:ext cx="1780309" cy="33628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1_empty background alt footer">
  <p:cSld name="1_maroon background">
    <p:bg>
      <p:bgPr>
        <a:solidFill>
          <a:schemeClr val="dk1"/>
        </a:solidFill>
      </p:bgPr>
    </p:bg>
    <p:spTree>
      <p:nvGrpSpPr>
        <p:cNvPr id="19" name="Shape 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Google Shape;20;p11"/>
          <p:cNvSpPr/>
          <p:nvPr/>
        </p:nvSpPr>
        <p:spPr>
          <a:xfrm>
            <a:off x="-15607" y="-643262"/>
            <a:ext cx="12223214" cy="814452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45700" spcFirstLastPara="1" rIns="45700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chemeClr val="accen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1" name="Google Shape;21;p11"/>
          <p:cNvSpPr txBox="1"/>
          <p:nvPr>
            <p:ph type="title"/>
          </p:nvPr>
        </p:nvSpPr>
        <p:spPr>
          <a:xfrm>
            <a:off x="838200" y="506447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800"/>
              <a:buNone/>
              <a:defRPr>
                <a:latin typeface="Arial"/>
                <a:ea typeface="Arial"/>
                <a:cs typeface="Arial"/>
                <a:sym typeface="Arial"/>
              </a:defRPr>
            </a:lvl1pPr>
            <a:lvl2pPr lvl="1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800"/>
              <a:buNone/>
              <a:defRPr/>
            </a:lvl2pPr>
            <a:lvl3pPr lvl="2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800"/>
              <a:buNone/>
              <a:defRPr/>
            </a:lvl3pPr>
            <a:lvl4pPr lvl="3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800"/>
              <a:buNone/>
              <a:defRPr/>
            </a:lvl4pPr>
            <a:lvl5pPr lvl="4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800"/>
              <a:buNone/>
              <a:defRPr/>
            </a:lvl5pPr>
            <a:lvl6pPr lvl="5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800"/>
              <a:buNone/>
              <a:defRPr/>
            </a:lvl6pPr>
            <a:lvl7pPr lvl="6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800"/>
              <a:buNone/>
              <a:defRPr/>
            </a:lvl7pPr>
            <a:lvl8pPr lvl="7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800"/>
              <a:buNone/>
              <a:defRPr/>
            </a:lvl8pPr>
            <a:lvl9pPr lvl="8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8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1_gray graphic empty background">
  <p:cSld name="maroon background, main logo corner">
    <p:bg>
      <p:bgPr>
        <a:solidFill>
          <a:schemeClr val="dk1"/>
        </a:solidFill>
      </p:bgPr>
    </p:bg>
    <p:spTree>
      <p:nvGrpSpPr>
        <p:cNvPr id="22" name="Shape 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3" name="Google Shape;23;p12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236623" y="6278880"/>
            <a:ext cx="1719412" cy="324778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>
            <a:alpha val="0"/>
          </a:schemeClr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8"/>
          <p:cNvSpPr txBox="1"/>
          <p:nvPr>
            <p:ph type="title"/>
          </p:nvPr>
        </p:nvSpPr>
        <p:spPr>
          <a:xfrm>
            <a:off x="838200" y="318041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3500"/>
              <a:buFont typeface="Arial"/>
              <a:buNone/>
              <a:defRPr b="0" i="0" sz="3500" u="none" cap="none" strike="noStrike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500"/>
              <a:buFont typeface="Arial"/>
              <a:buNone/>
              <a:defRPr b="0" i="0" sz="3500" u="none" cap="none" strike="noStrike">
                <a:solidFill>
                  <a:schemeClr val="accent1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500"/>
              <a:buFont typeface="Arial"/>
              <a:buNone/>
              <a:defRPr b="0" i="0" sz="3500" u="none" cap="none" strike="noStrike">
                <a:solidFill>
                  <a:schemeClr val="accent1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500"/>
              <a:buFont typeface="Arial"/>
              <a:buNone/>
              <a:defRPr b="0" i="0" sz="3500" u="none" cap="none" strike="noStrike">
                <a:solidFill>
                  <a:schemeClr val="accent1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500"/>
              <a:buFont typeface="Arial"/>
              <a:buNone/>
              <a:defRPr b="0" i="0" sz="3500" u="none" cap="none" strike="noStrike">
                <a:solidFill>
                  <a:schemeClr val="accent1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500"/>
              <a:buFont typeface="Arial"/>
              <a:buNone/>
              <a:defRPr b="0" i="0" sz="3500" u="none" cap="none" strike="noStrike">
                <a:solidFill>
                  <a:schemeClr val="accent1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500"/>
              <a:buFont typeface="Arial"/>
              <a:buNone/>
              <a:defRPr b="0" i="0" sz="3500" u="none" cap="none" strike="noStrike">
                <a:solidFill>
                  <a:schemeClr val="accent1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500"/>
              <a:buFont typeface="Arial"/>
              <a:buNone/>
              <a:defRPr b="0" i="0" sz="3500" u="none" cap="none" strike="noStrike">
                <a:solidFill>
                  <a:schemeClr val="accent1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500"/>
              <a:buFont typeface="Arial"/>
              <a:buNone/>
              <a:defRPr b="0" i="0" sz="3500" u="none" cap="none" strike="noStrike">
                <a:solidFill>
                  <a:schemeClr val="accent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7" name="Google Shape;7;p8"/>
          <p:cNvSpPr txBox="1"/>
          <p:nvPr>
            <p:ph idx="1" type="body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06400" lvl="0" marL="457200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ts val="2800"/>
              <a:buFont typeface="Arial"/>
              <a:buChar char="•"/>
              <a:defRPr b="0" i="0" sz="2800" u="none" cap="none" strike="noStrike">
                <a:solidFill>
                  <a:schemeClr val="accent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406400" lvl="1" marL="914400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ts val="2800"/>
              <a:buFont typeface="Arial"/>
              <a:buChar char="•"/>
              <a:defRPr b="0" i="0" sz="2800" u="none" cap="none" strike="noStrike">
                <a:solidFill>
                  <a:schemeClr val="accent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406400" lvl="2" marL="1371600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ts val="2800"/>
              <a:buFont typeface="Arial"/>
              <a:buChar char="•"/>
              <a:defRPr b="0" i="0" sz="2800" u="none" cap="none" strike="noStrike">
                <a:solidFill>
                  <a:schemeClr val="accent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406400" lvl="3" marL="1828800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ts val="2800"/>
              <a:buFont typeface="Arial"/>
              <a:buChar char="•"/>
              <a:defRPr b="0" i="0" sz="2800" u="none" cap="none" strike="noStrike">
                <a:solidFill>
                  <a:schemeClr val="accent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406400" lvl="4" marL="2286000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ts val="2800"/>
              <a:buFont typeface="Arial"/>
              <a:buChar char="•"/>
              <a:defRPr b="0" i="0" sz="2800" u="none" cap="none" strike="noStrike">
                <a:solidFill>
                  <a:schemeClr val="accent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406400" lvl="5" marL="2743200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ts val="2800"/>
              <a:buFont typeface="Arial"/>
              <a:buChar char="•"/>
              <a:defRPr b="0" i="0" sz="2800" u="none" cap="none" strike="noStrike">
                <a:solidFill>
                  <a:schemeClr val="accent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406400" lvl="6" marL="3200400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ts val="2800"/>
              <a:buFont typeface="Arial"/>
              <a:buChar char="•"/>
              <a:defRPr b="0" i="0" sz="2800" u="none" cap="none" strike="noStrike">
                <a:solidFill>
                  <a:schemeClr val="accent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406400" lvl="7" marL="3657600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ts val="2800"/>
              <a:buFont typeface="Arial"/>
              <a:buChar char="•"/>
              <a:defRPr b="0" i="0" sz="2800" u="none" cap="none" strike="noStrike">
                <a:solidFill>
                  <a:schemeClr val="accent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406400" lvl="8" marL="4114800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ts val="2800"/>
              <a:buFont typeface="Arial"/>
              <a:buChar char="•"/>
              <a:defRPr b="0" i="0" sz="2800" u="none" cap="none" strike="noStrike">
                <a:solidFill>
                  <a:schemeClr val="accent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9" r:id="rId1"/>
    <p:sldLayoutId id="2147483650" r:id="rId2"/>
    <p:sldLayoutId id="2147483651" r:id="rId3"/>
    <p:sldLayoutId id="2147483652" r:id="rId4"/>
  </p:sldLayoutIdLst>
  <p:hf dt="0" ftr="0" hdr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4.pn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7.pn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12.pn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3.pn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2.png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11.png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1.xml"/><Relationship Id="rId3" Type="http://schemas.openxmlformats.org/officeDocument/2006/relationships/image" Target="../media/image5.png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2.xml"/><Relationship Id="rId3" Type="http://schemas.openxmlformats.org/officeDocument/2006/relationships/image" Target="../media/image6.png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4.xml"/><Relationship Id="rId3" Type="http://schemas.openxmlformats.org/officeDocument/2006/relationships/image" Target="../media/image9.png"/></Relationships>
</file>

<file path=ppt/slides/_rels/slide1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5.xml"/><Relationship Id="rId3" Type="http://schemas.openxmlformats.org/officeDocument/2006/relationships/image" Target="../media/image8.png"/></Relationships>
</file>

<file path=ppt/slides/_rels/slide1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6.xml"/><Relationship Id="rId3" Type="http://schemas.openxmlformats.org/officeDocument/2006/relationships/image" Target="../media/image10.png"/></Relationships>
</file>

<file path=ppt/slides/_rels/slide1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8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27" name="Shape 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Google Shape;28;p1"/>
          <p:cNvSpPr txBox="1"/>
          <p:nvPr>
            <p:ph type="title"/>
          </p:nvPr>
        </p:nvSpPr>
        <p:spPr>
          <a:xfrm>
            <a:off x="1277584" y="1991059"/>
            <a:ext cx="10515600" cy="1540041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2060"/>
              </a:buClr>
              <a:buSzPts val="3500"/>
              <a:buFont typeface="Arial"/>
              <a:buNone/>
            </a:pPr>
            <a:r>
              <a:rPr lang="en-US" sz="5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Week </a:t>
            </a:r>
            <a:r>
              <a:rPr lang="en-US" sz="5400">
                <a:solidFill>
                  <a:schemeClr val="dk1"/>
                </a:solidFill>
              </a:rPr>
              <a:t>12</a:t>
            </a:r>
            <a:r>
              <a:rPr lang="en-US" sz="5400">
                <a:solidFill>
                  <a:schemeClr val="dk1"/>
                </a:solidFill>
              </a:rPr>
              <a:t> </a:t>
            </a:r>
            <a:r>
              <a:rPr lang="en-US" sz="5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Update: </a:t>
            </a:r>
            <a:r>
              <a:rPr lang="en-US" sz="5400">
                <a:solidFill>
                  <a:schemeClr val="dk1"/>
                </a:solidFill>
              </a:rPr>
              <a:t>PSL </a:t>
            </a:r>
            <a:r>
              <a:rPr lang="en-US" sz="5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Project</a:t>
            </a:r>
            <a:endParaRPr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9" name="Google Shape;29;p1"/>
          <p:cNvSpPr txBox="1"/>
          <p:nvPr>
            <p:ph idx="1" type="body"/>
          </p:nvPr>
        </p:nvSpPr>
        <p:spPr>
          <a:xfrm>
            <a:off x="1257325" y="3612125"/>
            <a:ext cx="6000900" cy="5445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508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SzPts val="2800"/>
              <a:buNone/>
            </a:pPr>
            <a:r>
              <a:rPr lang="en-US" sz="3000">
                <a:solidFill>
                  <a:schemeClr val="accent2"/>
                </a:solidFill>
              </a:rPr>
              <a:t>Shray Gupta</a:t>
            </a:r>
            <a:endParaRPr sz="3000">
              <a:solidFill>
                <a:schemeClr val="accent2"/>
              </a:solidFill>
            </a:endParaRPr>
          </a:p>
          <a:p>
            <a:pPr indent="0" lvl="0" marL="508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SzPts val="2800"/>
              <a:buNone/>
            </a:pPr>
            <a:r>
              <a:t/>
            </a:r>
            <a:endParaRPr sz="3000">
              <a:solidFill>
                <a:schemeClr val="accent2"/>
              </a:solidFill>
            </a:endParaRPr>
          </a:p>
        </p:txBody>
      </p:sp>
      <p:sp>
        <p:nvSpPr>
          <p:cNvPr id="30" name="Google Shape;30;p1"/>
          <p:cNvSpPr txBox="1"/>
          <p:nvPr>
            <p:ph idx="2" type="body"/>
          </p:nvPr>
        </p:nvSpPr>
        <p:spPr>
          <a:xfrm>
            <a:off x="1261560" y="4275117"/>
            <a:ext cx="5661025" cy="56553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508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SzPts val="2800"/>
              <a:buNone/>
            </a:pPr>
            <a:r>
              <a:rPr lang="en-US" sz="2500">
                <a:solidFill>
                  <a:srgbClr val="3A3C3D"/>
                </a:solidFill>
              </a:rPr>
              <a:t>4/7 - 4/13</a:t>
            </a:r>
            <a:endParaRPr/>
          </a:p>
        </p:txBody>
      </p:sp>
      <p:sp>
        <p:nvSpPr>
          <p:cNvPr id="31" name="Google Shape;31;p1"/>
          <p:cNvSpPr/>
          <p:nvPr/>
        </p:nvSpPr>
        <p:spPr>
          <a:xfrm>
            <a:off x="9254059" y="-6100"/>
            <a:ext cx="2940214" cy="875893"/>
          </a:xfrm>
          <a:prstGeom prst="rect">
            <a:avLst/>
          </a:prstGeom>
          <a:solidFill>
            <a:schemeClr val="dk1"/>
          </a:solidFill>
          <a:ln cap="flat" cmpd="sng" w="12700">
            <a:solidFill>
              <a:schemeClr val="accent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45700" spcFirstLastPara="1" rIns="45700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chemeClr val="accen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Virginia Tech" id="32" name="Google Shape;32;p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9628836" y="257770"/>
            <a:ext cx="2053002" cy="38778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6" name="Shape 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" name="Google Shape;37;p2"/>
          <p:cNvSpPr txBox="1"/>
          <p:nvPr>
            <p:ph type="title"/>
          </p:nvPr>
        </p:nvSpPr>
        <p:spPr>
          <a:xfrm>
            <a:off x="838200" y="238871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3500"/>
              <a:buNone/>
            </a:pPr>
            <a:r>
              <a:rPr lang="en-US">
                <a:solidFill>
                  <a:schemeClr val="accent1"/>
                </a:solidFill>
              </a:rPr>
              <a:t>Completed Tasks</a:t>
            </a:r>
            <a:endParaRPr/>
          </a:p>
        </p:txBody>
      </p:sp>
      <p:sp>
        <p:nvSpPr>
          <p:cNvPr id="38" name="Google Shape;38;p2"/>
          <p:cNvSpPr txBox="1"/>
          <p:nvPr>
            <p:ph idx="1" type="body"/>
          </p:nvPr>
        </p:nvSpPr>
        <p:spPr>
          <a:xfrm>
            <a:off x="838200" y="1564434"/>
            <a:ext cx="10515600" cy="432107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457200" lvl="0" marL="5080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SzPts val="2800"/>
              <a:buChar char="•"/>
            </a:pPr>
            <a:r>
              <a:rPr b="1" lang="en-US"/>
              <a:t>Completed Milestone 4c</a:t>
            </a:r>
            <a:r>
              <a:rPr lang="en-US"/>
              <a:t> — secure password storage (salted hash, verification, EEPROM layout) and integration with the full locker behavior.</a:t>
            </a:r>
            <a:endParaRPr/>
          </a:p>
          <a:p>
            <a:pPr indent="-457200" lvl="0" marL="5080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SzPts val="2800"/>
              <a:buChar char="•"/>
            </a:pPr>
            <a:r>
              <a:rPr b="1" lang="en-US"/>
              <a:t>Reengineered Milestone 4a</a:t>
            </a:r>
            <a:r>
              <a:rPr lang="en-US"/>
              <a:t> — 5 V rail monitoring, buzzer behavior, and how power alerts interact with the rest of the firmware before folding it into the main sketch.</a:t>
            </a:r>
            <a:endParaRPr/>
          </a:p>
          <a:p>
            <a:pPr indent="-457200" lvl="0" marL="5080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SzPts val="2800"/>
              <a:buChar char="•"/>
            </a:pPr>
            <a:r>
              <a:rPr b="1" lang="en-US"/>
              <a:t>Fixed memory pressure and brownout-related failures</a:t>
            </a:r>
            <a:r>
              <a:rPr lang="en-US"/>
              <a:t> — reduced RAM/stack load and stabilized operation so crypto, EEPROM, LEDs, buzzer, and servo could run together without resetting.</a:t>
            </a:r>
            <a:endParaRPr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2" name="Shape 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" name="Google Shape;43;p3"/>
          <p:cNvSpPr txBox="1"/>
          <p:nvPr>
            <p:ph type="title"/>
          </p:nvPr>
        </p:nvSpPr>
        <p:spPr>
          <a:xfrm>
            <a:off x="838200" y="238871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3500"/>
              <a:buNone/>
            </a:pPr>
            <a:r>
              <a:rPr lang="en-US"/>
              <a:t>Task 1: Detailed Update</a:t>
            </a:r>
            <a:endParaRPr/>
          </a:p>
        </p:txBody>
      </p:sp>
      <p:sp>
        <p:nvSpPr>
          <p:cNvPr id="44" name="Google Shape;44;p3"/>
          <p:cNvSpPr txBox="1"/>
          <p:nvPr>
            <p:ph idx="1" type="body"/>
          </p:nvPr>
        </p:nvSpPr>
        <p:spPr>
          <a:xfrm>
            <a:off x="838200" y="1564434"/>
            <a:ext cx="10515600" cy="432107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 fontScale="55000" lnSpcReduction="20000"/>
          </a:bodyPr>
          <a:lstStyle/>
          <a:p>
            <a:pPr indent="-377190" lvl="0" marL="5080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SzPct val="100000"/>
              <a:buFont typeface="Arial"/>
              <a:buChar char="•"/>
            </a:pPr>
            <a:r>
              <a:rPr lang="en-US"/>
              <a:t>Objective</a:t>
            </a:r>
            <a:endParaRPr/>
          </a:p>
          <a:p>
            <a:pPr indent="-326390" lvl="1" marL="9144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SzPct val="100000"/>
              <a:buChar char="•"/>
            </a:pPr>
            <a:r>
              <a:rPr lang="en-US"/>
              <a:t>Detect a weak 5 V rail before brownout and alert the user using visible (LEDs) and audible (buzzer) feedback, integrated with the rest of the locker firmware.</a:t>
            </a:r>
            <a:endParaRPr/>
          </a:p>
          <a:p>
            <a:pPr indent="-377190" lvl="0" marL="5080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SzPct val="100000"/>
              <a:buFont typeface="Arial"/>
              <a:buChar char="•"/>
            </a:pPr>
            <a:r>
              <a:rPr lang="en-US"/>
              <a:t>Method / Approach</a:t>
            </a:r>
            <a:endParaRPr/>
          </a:p>
          <a:p>
            <a:pPr indent="-326390" lvl="1" marL="914400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SzPct val="100000"/>
              <a:buChar char="•"/>
            </a:pPr>
            <a:r>
              <a:rPr lang="en-US"/>
              <a:t>Password never stored in plaintext — only a 16-byte random salt and 32-byte SHA-256(salt ‖ password bytes) are written to EEPROM.</a:t>
            </a:r>
            <a:endParaRPr/>
          </a:p>
          <a:p>
            <a:pPr indent="-326390" lvl="1" marL="914400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SzPct val="100000"/>
              <a:buChar char="•"/>
            </a:pPr>
            <a:r>
              <a:rPr lang="en-US"/>
              <a:t>SHA-256 implemented in firmware (no crypto library) — single code path used for save and verify; optional known test vector over Serial to prove correctness before relying on the lock.</a:t>
            </a:r>
            <a:endParaRPr/>
          </a:p>
          <a:p>
            <a:pPr indent="-326390" lvl="1" marL="914400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SzPct val="100000"/>
              <a:buChar char="•"/>
            </a:pPr>
            <a:r>
              <a:rPr lang="en-US"/>
              <a:t>EEPROM record layout — magic + version + password length metadata + salt + hash; commit order written so a reset mid-write does not leave a valid-looking record (invalidate first, write payload, commit magic last).</a:t>
            </a:r>
            <a:endParaRPr/>
          </a:p>
          <a:p>
            <a:pPr indent="-326390" lvl="1" marL="914400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SzPct val="100000"/>
              <a:buChar char="•"/>
            </a:pPr>
            <a:r>
              <a:rPr lang="en-US"/>
              <a:t>Verification — reload stored salt/hash, recompute hash from entered digits, compare with a fixed-length, constant-time byte compare (no early exit).</a:t>
            </a:r>
            <a:endParaRPr/>
          </a:p>
          <a:p>
            <a:pPr indent="-326390" lvl="1" marL="914400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SzPct val="100000"/>
              <a:buChar char="•"/>
            </a:pPr>
            <a:r>
              <a:rPr lang="en-US"/>
              <a:t>Legacy handling — if old plaintext EEPROM format (AB …) is detected, migrate once on boot to the new salted-hash format.</a:t>
            </a:r>
            <a:endParaRPr/>
          </a:p>
          <a:p>
            <a:pPr indent="-326390" lvl="1" marL="914400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SzPct val="100000"/>
              <a:buChar char="•"/>
            </a:pPr>
            <a:r>
              <a:rPr lang="en-US"/>
              <a:t>Integration — same verify function for keypad unlock and Serial T; saving a new code hashes and rewrites the secure record.</a:t>
            </a:r>
            <a:endParaRPr/>
          </a:p>
          <a:p>
            <a:pPr indent="-326390" lvl="1" marL="914400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SzPct val="100000"/>
              <a:buChar char="•"/>
            </a:pPr>
            <a:r>
              <a:rPr lang="en-US"/>
              <a:t>Buffers — sensitive stack buffers zeroed after hashing where applicable.</a:t>
            </a:r>
            <a:endParaRPr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8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4"/>
          <p:cNvSpPr txBox="1"/>
          <p:nvPr>
            <p:ph type="title"/>
          </p:nvPr>
        </p:nvSpPr>
        <p:spPr>
          <a:xfrm>
            <a:off x="838200" y="238871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3500"/>
              <a:buNone/>
            </a:pPr>
            <a:r>
              <a:rPr lang="en-US"/>
              <a:t>Task 1: (continue)</a:t>
            </a:r>
            <a:endParaRPr/>
          </a:p>
        </p:txBody>
      </p:sp>
      <p:sp>
        <p:nvSpPr>
          <p:cNvPr id="50" name="Google Shape;50;p4"/>
          <p:cNvSpPr txBox="1"/>
          <p:nvPr>
            <p:ph idx="1" type="body"/>
          </p:nvPr>
        </p:nvSpPr>
        <p:spPr>
          <a:xfrm>
            <a:off x="838200" y="1564434"/>
            <a:ext cx="10515600" cy="432107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457200" lvl="0" marL="5080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</a:pPr>
            <a:r>
              <a:rPr lang="en-US"/>
              <a:t>sha256_k[64] in PROGMEM (saves RAM).</a:t>
            </a:r>
            <a:endParaRPr/>
          </a:p>
        </p:txBody>
      </p:sp>
      <p:pic>
        <p:nvPicPr>
          <p:cNvPr id="51" name="Google Shape;51;p4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870513" y="3096400"/>
            <a:ext cx="6734175" cy="23241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5" name="Shape 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" name="Google Shape;56;g3d5e9c351c5_0_2"/>
          <p:cNvSpPr txBox="1"/>
          <p:nvPr>
            <p:ph type="title"/>
          </p:nvPr>
        </p:nvSpPr>
        <p:spPr>
          <a:xfrm>
            <a:off x="838200" y="238871"/>
            <a:ext cx="10515600" cy="1325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3500"/>
              <a:buNone/>
            </a:pPr>
            <a:r>
              <a:rPr lang="en-US"/>
              <a:t>Task 1: (continue)</a:t>
            </a:r>
            <a:endParaRPr/>
          </a:p>
        </p:txBody>
      </p:sp>
      <p:sp>
        <p:nvSpPr>
          <p:cNvPr id="57" name="Google Shape;57;g3d5e9c351c5_0_2"/>
          <p:cNvSpPr txBox="1"/>
          <p:nvPr>
            <p:ph idx="1" type="body"/>
          </p:nvPr>
        </p:nvSpPr>
        <p:spPr>
          <a:xfrm>
            <a:off x="838200" y="1564434"/>
            <a:ext cx="10515600" cy="4321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457200" lvl="0" marL="5080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</a:pPr>
            <a:r>
              <a:rPr lang="en-US"/>
              <a:t>Hashing the password</a:t>
            </a:r>
            <a:endParaRPr/>
          </a:p>
        </p:txBody>
      </p:sp>
      <p:pic>
        <p:nvPicPr>
          <p:cNvPr id="58" name="Google Shape;58;g3d5e9c351c5_0_2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265925" y="2976525"/>
            <a:ext cx="8496300" cy="25908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2" name="Shape 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" name="Google Shape;63;g3d5e9c351c5_0_9"/>
          <p:cNvSpPr txBox="1"/>
          <p:nvPr>
            <p:ph type="title"/>
          </p:nvPr>
        </p:nvSpPr>
        <p:spPr>
          <a:xfrm>
            <a:off x="838200" y="238871"/>
            <a:ext cx="10515600" cy="1325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3500"/>
              <a:buNone/>
            </a:pPr>
            <a:r>
              <a:rPr lang="en-US"/>
              <a:t>Task 1: (continue)</a:t>
            </a:r>
            <a:endParaRPr/>
          </a:p>
        </p:txBody>
      </p:sp>
      <p:sp>
        <p:nvSpPr>
          <p:cNvPr id="64" name="Google Shape;64;g3d5e9c351c5_0_9"/>
          <p:cNvSpPr txBox="1"/>
          <p:nvPr>
            <p:ph idx="1" type="body"/>
          </p:nvPr>
        </p:nvSpPr>
        <p:spPr>
          <a:xfrm>
            <a:off x="838200" y="1564434"/>
            <a:ext cx="10515600" cy="4321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457200" lvl="0" marL="5080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</a:pPr>
            <a:r>
              <a:rPr lang="en-US"/>
              <a:t>New verify password </a:t>
            </a:r>
            <a:endParaRPr/>
          </a:p>
        </p:txBody>
      </p:sp>
      <p:pic>
        <p:nvPicPr>
          <p:cNvPr id="65" name="Google Shape;65;g3d5e9c351c5_0_9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524638" y="2770888"/>
            <a:ext cx="5210175" cy="31908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9" name="Shape 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" name="Google Shape;70;g3d5e9c351c5_0_16"/>
          <p:cNvSpPr txBox="1"/>
          <p:nvPr>
            <p:ph type="title"/>
          </p:nvPr>
        </p:nvSpPr>
        <p:spPr>
          <a:xfrm>
            <a:off x="838200" y="238871"/>
            <a:ext cx="10515600" cy="1325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3500"/>
              <a:buNone/>
            </a:pPr>
            <a:r>
              <a:rPr lang="en-US"/>
              <a:t>Task 1: (continue)</a:t>
            </a:r>
            <a:endParaRPr/>
          </a:p>
        </p:txBody>
      </p:sp>
      <p:sp>
        <p:nvSpPr>
          <p:cNvPr id="71" name="Google Shape;71;g3d5e9c351c5_0_16"/>
          <p:cNvSpPr txBox="1"/>
          <p:nvPr>
            <p:ph idx="1" type="body"/>
          </p:nvPr>
        </p:nvSpPr>
        <p:spPr>
          <a:xfrm>
            <a:off x="838200" y="1564434"/>
            <a:ext cx="10515600" cy="4321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457200" lvl="0" marL="5080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</a:pPr>
            <a:r>
              <a:rPr lang="en-US"/>
              <a:t>EEPROM write order</a:t>
            </a:r>
            <a:endParaRPr/>
          </a:p>
        </p:txBody>
      </p:sp>
      <p:pic>
        <p:nvPicPr>
          <p:cNvPr id="72" name="Google Shape;72;g3d5e9c351c5_0_16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931673" y="2163048"/>
            <a:ext cx="6781601" cy="46949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6" name="Shape 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" name="Google Shape;77;g3d5e9c351c5_0_23"/>
          <p:cNvSpPr txBox="1"/>
          <p:nvPr>
            <p:ph type="title"/>
          </p:nvPr>
        </p:nvSpPr>
        <p:spPr>
          <a:xfrm>
            <a:off x="838200" y="238871"/>
            <a:ext cx="10515600" cy="1325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3500"/>
              <a:buNone/>
            </a:pPr>
            <a:r>
              <a:rPr lang="en-US"/>
              <a:t>Task 1: (continue)</a:t>
            </a:r>
            <a:endParaRPr/>
          </a:p>
        </p:txBody>
      </p:sp>
      <p:sp>
        <p:nvSpPr>
          <p:cNvPr id="78" name="Google Shape;78;g3d5e9c351c5_0_23"/>
          <p:cNvSpPr txBox="1"/>
          <p:nvPr>
            <p:ph idx="1" type="body"/>
          </p:nvPr>
        </p:nvSpPr>
        <p:spPr>
          <a:xfrm>
            <a:off x="838200" y="1564434"/>
            <a:ext cx="10515600" cy="4321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457200" lvl="0" marL="5080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</a:pPr>
            <a:r>
              <a:rPr lang="en-US"/>
              <a:t>salting</a:t>
            </a:r>
            <a:endParaRPr/>
          </a:p>
        </p:txBody>
      </p:sp>
      <p:pic>
        <p:nvPicPr>
          <p:cNvPr id="79" name="Google Shape;79;g3d5e9c351c5_0_23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110188" y="2968850"/>
            <a:ext cx="7877175" cy="15811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3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" name="Google Shape;84;g3c6d360cc26_0_41"/>
          <p:cNvSpPr txBox="1"/>
          <p:nvPr>
            <p:ph type="title"/>
          </p:nvPr>
        </p:nvSpPr>
        <p:spPr>
          <a:xfrm>
            <a:off x="838200" y="238871"/>
            <a:ext cx="10515600" cy="1325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3500"/>
              <a:buNone/>
            </a:pPr>
            <a:r>
              <a:rPr lang="en-US"/>
              <a:t>Task 1: (continue)</a:t>
            </a:r>
            <a:endParaRPr/>
          </a:p>
        </p:txBody>
      </p:sp>
      <p:sp>
        <p:nvSpPr>
          <p:cNvPr id="85" name="Google Shape;85;g3c6d360cc26_0_41"/>
          <p:cNvSpPr txBox="1"/>
          <p:nvPr>
            <p:ph idx="1" type="body"/>
          </p:nvPr>
        </p:nvSpPr>
        <p:spPr>
          <a:xfrm>
            <a:off x="838200" y="1564434"/>
            <a:ext cx="10515600" cy="4321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 fontScale="77500" lnSpcReduction="10000"/>
          </a:bodyPr>
          <a:lstStyle/>
          <a:p>
            <a:pPr indent="-417195" lvl="0" marL="5080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ct val="100000"/>
              <a:buChar char="•"/>
            </a:pPr>
            <a:r>
              <a:rPr lang="en-US"/>
              <a:t>Key results</a:t>
            </a:r>
            <a:endParaRPr/>
          </a:p>
          <a:p>
            <a:pPr indent="-366395" lvl="1" marL="9144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ct val="100000"/>
              <a:buChar char="•"/>
            </a:pPr>
            <a:r>
              <a:rPr lang="en-US">
                <a:solidFill>
                  <a:schemeClr val="dk1"/>
                </a:solidFill>
              </a:rPr>
              <a:t>All the existing functions work properly but integrate with the new salting and encryption algorithms.</a:t>
            </a:r>
            <a:endParaRPr>
              <a:solidFill>
                <a:schemeClr val="dk1"/>
              </a:solidFill>
            </a:endParaRPr>
          </a:p>
          <a:p>
            <a:pPr indent="-366395" lvl="1" marL="9144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ct val="100000"/>
              <a:buChar char="•"/>
            </a:pPr>
            <a:r>
              <a:rPr lang="en-US">
                <a:solidFill>
                  <a:schemeClr val="dk1"/>
                </a:solidFill>
              </a:rPr>
              <a:t>Secure storage: Password is never stored in plaintext; EEPROM holds 16-byte salt + 32-byte SHA-256(salt ‖ password) with a defined magic / version record layout.</a:t>
            </a:r>
            <a:endParaRPr>
              <a:solidFill>
                <a:schemeClr val="dk1"/>
              </a:solidFill>
            </a:endParaRPr>
          </a:p>
          <a:p>
            <a:pPr indent="-366395" lvl="1" marL="9144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ct val="100000"/>
              <a:buChar char="•"/>
            </a:pPr>
            <a:r>
              <a:rPr lang="en-US">
                <a:solidFill>
                  <a:schemeClr val="dk1"/>
                </a:solidFill>
              </a:rPr>
              <a:t>Verification: Unlock path recomputes the hash and compares with constTimeEqual (fixed 32-byte compare).</a:t>
            </a:r>
            <a:endParaRPr>
              <a:solidFill>
                <a:schemeClr val="dk1"/>
              </a:solidFill>
            </a:endParaRPr>
          </a:p>
          <a:p>
            <a:pPr indent="-366395" lvl="1" marL="9144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ct val="100000"/>
              <a:buChar char="•"/>
            </a:pPr>
            <a:r>
              <a:rPr lang="en-US">
                <a:solidFill>
                  <a:schemeClr val="dk1"/>
                </a:solidFill>
              </a:rPr>
              <a:t>Legacy upgrade: Old AB plaintext records are detected and migrated once to the new format on boot.</a:t>
            </a:r>
            <a:endParaRPr>
              <a:solidFill>
                <a:schemeClr val="dk1"/>
              </a:solidFill>
            </a:endParaRPr>
          </a:p>
          <a:p>
            <a:pPr indent="-366395" lvl="1" marL="9144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ct val="100000"/>
              <a:buChar char="•"/>
            </a:pPr>
            <a:r>
              <a:rPr lang="en-US">
                <a:solidFill>
                  <a:schemeClr val="dk1"/>
                </a:solidFill>
              </a:rPr>
              <a:t>Integration: Same verify path for keypad unlock and Serial T; S saves a new salted hash.</a:t>
            </a:r>
            <a:endParaRPr>
              <a:solidFill>
                <a:schemeClr val="dk1"/>
              </a:solidFill>
            </a:endParaRPr>
          </a:p>
          <a:p>
            <a:pPr indent="-366395" lvl="1" marL="9144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ct val="100000"/>
              <a:buChar char="•"/>
            </a:pPr>
            <a:r>
              <a:rPr lang="en-US">
                <a:solidFill>
                  <a:schemeClr val="dk1"/>
                </a:solidFill>
              </a:rPr>
              <a:t>Sanity check: Serial T shows UNLOCK / DENIED correctly for good vs bad codes after a save.</a:t>
            </a:r>
            <a:endParaRPr>
              <a:solidFill>
                <a:schemeClr val="dk1"/>
              </a:solidFill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9" name="Shape 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" name="Google Shape;90;p5"/>
          <p:cNvSpPr txBox="1"/>
          <p:nvPr>
            <p:ph type="title"/>
          </p:nvPr>
        </p:nvSpPr>
        <p:spPr>
          <a:xfrm>
            <a:off x="838200" y="238871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3500"/>
              <a:buNone/>
            </a:pPr>
            <a:r>
              <a:rPr lang="en-US"/>
              <a:t>Task 2: Detailed Update</a:t>
            </a:r>
            <a:endParaRPr/>
          </a:p>
        </p:txBody>
      </p:sp>
      <p:sp>
        <p:nvSpPr>
          <p:cNvPr id="91" name="Google Shape;91;p5"/>
          <p:cNvSpPr txBox="1"/>
          <p:nvPr>
            <p:ph idx="1" type="body"/>
          </p:nvPr>
        </p:nvSpPr>
        <p:spPr>
          <a:xfrm>
            <a:off x="838200" y="1564434"/>
            <a:ext cx="10515600" cy="432107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 fontScale="85000" lnSpcReduction="20000"/>
          </a:bodyPr>
          <a:lstStyle/>
          <a:p>
            <a:pPr indent="-430530" lvl="0" marL="5080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SzPct val="100000"/>
              <a:buFont typeface="Arial"/>
              <a:buChar char="•"/>
            </a:pPr>
            <a:r>
              <a:rPr lang="en-US"/>
              <a:t>Objective</a:t>
            </a:r>
            <a:endParaRPr/>
          </a:p>
          <a:p>
            <a:pPr indent="-379730" lvl="1" marL="9144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SzPct val="100000"/>
              <a:buChar char="•"/>
            </a:pPr>
            <a:r>
              <a:rPr lang="en-US"/>
              <a:t>Extend the existing 4a </a:t>
            </a:r>
            <a:r>
              <a:rPr lang="en-US"/>
              <a:t>implementation,</a:t>
            </a:r>
            <a:r>
              <a:rPr lang="en-US"/>
              <a:t> low-supply / rail-alert behavior so alerts are shown on LEDs as well as the buzzer, with shared timing per alert level.</a:t>
            </a:r>
            <a:endParaRPr/>
          </a:p>
          <a:p>
            <a:pPr indent="-430530" lvl="0" marL="5080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SzPct val="100000"/>
              <a:buFont typeface="Arial"/>
              <a:buChar char="•"/>
            </a:pPr>
            <a:r>
              <a:rPr lang="en-US"/>
              <a:t>Method / Approach</a:t>
            </a:r>
            <a:endParaRPr/>
          </a:p>
          <a:p>
            <a:pPr indent="-379730" lvl="1" marL="9144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SzPct val="100000"/>
              <a:buChar char="•"/>
            </a:pPr>
            <a:r>
              <a:rPr lang="en-US"/>
              <a:t>I kept the same rail checks and levels I was using before.</a:t>
            </a:r>
            <a:endParaRPr/>
          </a:p>
          <a:p>
            <a:pPr indent="-379730" lvl="1" marL="9144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SzPct val="100000"/>
              <a:buChar char="•"/>
            </a:pPr>
            <a:r>
              <a:rPr lang="en-US"/>
              <a:t>I wired the LEDs into that: when we’re in a warning, I drive yellow; when we’re critical, I drive red — in sync with the buzzer (same on/off timing for that level).</a:t>
            </a:r>
            <a:endParaRPr/>
          </a:p>
          <a:p>
            <a:pPr indent="-379730" lvl="1" marL="9144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SzPct val="100000"/>
              <a:buChar char="•"/>
            </a:pPr>
            <a:r>
              <a:rPr lang="en-US"/>
              <a:t>I also pause the rail LED + buzzer for a moment when other stuff is happening (wrong password, wake, save-password flow) so those screens aren’t fighting the battery alert.</a:t>
            </a:r>
            <a:endParaRPr/>
          </a:p>
          <a:p>
            <a:pPr indent="0" lvl="0" marL="50800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100000"/>
              <a:buFont typeface="Arial"/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5" name="Shape 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" name="Google Shape;96;g396eb07d7e1_0_5"/>
          <p:cNvSpPr txBox="1"/>
          <p:nvPr>
            <p:ph type="title"/>
          </p:nvPr>
        </p:nvSpPr>
        <p:spPr>
          <a:xfrm>
            <a:off x="838200" y="238871"/>
            <a:ext cx="10515600" cy="1325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3500"/>
              <a:buNone/>
            </a:pPr>
            <a:r>
              <a:rPr lang="en-US"/>
              <a:t>Task 2: (continue)</a:t>
            </a:r>
            <a:endParaRPr/>
          </a:p>
        </p:txBody>
      </p:sp>
      <p:sp>
        <p:nvSpPr>
          <p:cNvPr id="97" name="Google Shape;97;g396eb07d7e1_0_5"/>
          <p:cNvSpPr txBox="1"/>
          <p:nvPr>
            <p:ph idx="1" type="body"/>
          </p:nvPr>
        </p:nvSpPr>
        <p:spPr>
          <a:xfrm>
            <a:off x="838200" y="1564434"/>
            <a:ext cx="10515600" cy="4321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457200" lvl="0" marL="5080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</a:pPr>
            <a:r>
              <a:rPr lang="en-US"/>
              <a:t>Any schematic, simulation, measurement, derivation, and equations</a:t>
            </a:r>
            <a:endParaRPr/>
          </a:p>
        </p:txBody>
      </p:sp>
      <p:pic>
        <p:nvPicPr>
          <p:cNvPr id="98" name="Google Shape;98;g396eb07d7e1_0_5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349772" y="2191503"/>
            <a:ext cx="6250725" cy="39878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2" name="Shape 1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3" name="Google Shape;103;g3c87ce2a240_0_29"/>
          <p:cNvSpPr txBox="1"/>
          <p:nvPr>
            <p:ph type="title"/>
          </p:nvPr>
        </p:nvSpPr>
        <p:spPr>
          <a:xfrm>
            <a:off x="838200" y="238871"/>
            <a:ext cx="10515600" cy="1325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3500"/>
              <a:buNone/>
            </a:pPr>
            <a:r>
              <a:rPr lang="en-US"/>
              <a:t>Task 2: (continue)</a:t>
            </a:r>
            <a:endParaRPr/>
          </a:p>
        </p:txBody>
      </p:sp>
      <p:pic>
        <p:nvPicPr>
          <p:cNvPr id="104" name="Google Shape;104;g3c87ce2a240_0_29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472100" y="1352846"/>
            <a:ext cx="7114681" cy="498862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8" name="Shape 1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9" name="Google Shape;109;g396eb07d7e1_0_69"/>
          <p:cNvSpPr txBox="1"/>
          <p:nvPr>
            <p:ph type="title"/>
          </p:nvPr>
        </p:nvSpPr>
        <p:spPr>
          <a:xfrm>
            <a:off x="838200" y="238871"/>
            <a:ext cx="10515600" cy="1325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3500"/>
              <a:buNone/>
            </a:pPr>
            <a:r>
              <a:rPr lang="en-US"/>
              <a:t>Task 3: Detailed Update</a:t>
            </a:r>
            <a:endParaRPr/>
          </a:p>
        </p:txBody>
      </p:sp>
      <p:sp>
        <p:nvSpPr>
          <p:cNvPr id="110" name="Google Shape;110;g396eb07d7e1_0_69"/>
          <p:cNvSpPr txBox="1"/>
          <p:nvPr>
            <p:ph idx="1" type="body"/>
          </p:nvPr>
        </p:nvSpPr>
        <p:spPr>
          <a:xfrm>
            <a:off x="838200" y="1564434"/>
            <a:ext cx="10515600" cy="4321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 fontScale="85000" lnSpcReduction="20000"/>
          </a:bodyPr>
          <a:lstStyle/>
          <a:p>
            <a:pPr indent="-430530" lvl="0" marL="5080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SzPct val="100000"/>
              <a:buFont typeface="Arial"/>
              <a:buChar char="•"/>
            </a:pPr>
            <a:r>
              <a:rPr lang="en-US"/>
              <a:t>Objective</a:t>
            </a:r>
            <a:endParaRPr/>
          </a:p>
          <a:p>
            <a:pPr indent="-379730" lvl="1" marL="9144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SzPct val="100000"/>
              <a:buChar char="•"/>
            </a:pPr>
            <a:r>
              <a:rPr lang="en-US"/>
              <a:t>Stop resets/brownouts under full load so crypto + EEPROM + LEDs + buzzer + servo can run together reliably.</a:t>
            </a:r>
            <a:endParaRPr/>
          </a:p>
          <a:p>
            <a:pPr indent="-430530" lvl="0" marL="5080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SzPct val="100000"/>
              <a:buFont typeface="Arial"/>
              <a:buChar char="•"/>
            </a:pPr>
            <a:r>
              <a:rPr lang="en-US"/>
              <a:t>Method / Approach</a:t>
            </a:r>
            <a:endParaRPr/>
          </a:p>
          <a:p>
            <a:pPr indent="-336550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ct val="100000"/>
              <a:buFont typeface="Arial"/>
              <a:buChar char="•"/>
            </a:pPr>
            <a:r>
              <a:rPr lang="en-US" sz="2000">
                <a:latin typeface="Arial"/>
                <a:ea typeface="Arial"/>
                <a:cs typeface="Arial"/>
                <a:sym typeface="Arial"/>
              </a:rPr>
              <a:t>Reduce RAM/stack pressure (move big tables to flash/PROGMEM, reuse static buffers, avoid large temp arrays).</a:t>
            </a:r>
            <a:endParaRPr sz="2000">
              <a:latin typeface="Arial"/>
              <a:ea typeface="Arial"/>
              <a:cs typeface="Arial"/>
              <a:sym typeface="Arial"/>
            </a:endParaRPr>
          </a:p>
          <a:p>
            <a:pPr indent="-336550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ct val="100000"/>
              <a:buFont typeface="Arial"/>
              <a:buChar char="•"/>
            </a:pPr>
            <a:r>
              <a:rPr lang="en-US" sz="2000">
                <a:latin typeface="Arial"/>
                <a:ea typeface="Arial"/>
                <a:cs typeface="Arial"/>
                <a:sym typeface="Arial"/>
              </a:rPr>
              <a:t>Brownout-safe EEPROM writes (stagger writes + small delays; commit/“magic last” so partial writes aren’t treated valid).</a:t>
            </a:r>
            <a:endParaRPr sz="2000">
              <a:latin typeface="Arial"/>
              <a:ea typeface="Arial"/>
              <a:cs typeface="Arial"/>
              <a:sym typeface="Arial"/>
            </a:endParaRPr>
          </a:p>
          <a:p>
            <a:pPr indent="-336550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ct val="100000"/>
              <a:buFont typeface="Arial"/>
              <a:buChar char="•"/>
            </a:pPr>
            <a:r>
              <a:rPr lang="en-US" sz="2000">
                <a:latin typeface="Arial"/>
                <a:ea typeface="Arial"/>
                <a:cs typeface="Arial"/>
                <a:sym typeface="Arial"/>
              </a:rPr>
              <a:t>Load-shedding during crypto/EEPROM (temporarily stop buzzer + LEDs while hashing/writing to reduce rail dips).</a:t>
            </a:r>
            <a:endParaRPr sz="2000">
              <a:latin typeface="Arial"/>
              <a:ea typeface="Arial"/>
              <a:cs typeface="Arial"/>
              <a:sym typeface="Arial"/>
            </a:endParaRPr>
          </a:p>
          <a:p>
            <a:pPr indent="-336550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ct val="100000"/>
              <a:buFont typeface="Arial"/>
              <a:buChar char="•"/>
            </a:pPr>
            <a:r>
              <a:rPr lang="en-US" sz="2000">
                <a:latin typeface="Arial"/>
                <a:ea typeface="Arial"/>
                <a:cs typeface="Arial"/>
                <a:sym typeface="Arial"/>
              </a:rPr>
              <a:t>Rail-aware sequencing (pause UI/buzzer patterns around sensitive operations; avoid simultaneous peak current events).</a:t>
            </a:r>
            <a:endParaRPr sz="2000">
              <a:latin typeface="Arial"/>
              <a:ea typeface="Arial"/>
              <a:cs typeface="Arial"/>
              <a:sym typeface="Arial"/>
            </a:endParaRPr>
          </a:p>
          <a:p>
            <a:pPr indent="-336550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ct val="100000"/>
              <a:buFont typeface="Arial"/>
              <a:buChar char="•"/>
            </a:pPr>
            <a:r>
              <a:rPr lang="en-US" sz="2000">
                <a:latin typeface="Arial"/>
                <a:ea typeface="Arial"/>
                <a:cs typeface="Arial"/>
                <a:sym typeface="Arial"/>
              </a:rPr>
              <a:t>Verify by stress test: repeat save/verify + LED/buzzer + servo motion without watchdog/brownout resets.</a:t>
            </a:r>
            <a:endParaRPr sz="2000">
              <a:latin typeface="Arial"/>
              <a:ea typeface="Arial"/>
              <a:cs typeface="Arial"/>
              <a:sym typeface="Arial"/>
            </a:endParaRPr>
          </a:p>
          <a:p>
            <a:pPr indent="0" lvl="0" marL="50800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100000"/>
              <a:buFont typeface="Arial"/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4" name="Shape 1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5" name="Google Shape;115;g396eb07d7e1_0_74"/>
          <p:cNvSpPr txBox="1"/>
          <p:nvPr>
            <p:ph type="title"/>
          </p:nvPr>
        </p:nvSpPr>
        <p:spPr>
          <a:xfrm>
            <a:off x="838200" y="238871"/>
            <a:ext cx="10515600" cy="1325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3500"/>
              <a:buNone/>
            </a:pPr>
            <a:r>
              <a:rPr lang="en-US"/>
              <a:t>Task 3: (continue)</a:t>
            </a:r>
            <a:endParaRPr/>
          </a:p>
        </p:txBody>
      </p:sp>
      <p:sp>
        <p:nvSpPr>
          <p:cNvPr id="116" name="Google Shape;116;g396eb07d7e1_0_74"/>
          <p:cNvSpPr txBox="1"/>
          <p:nvPr>
            <p:ph idx="1" type="body"/>
          </p:nvPr>
        </p:nvSpPr>
        <p:spPr>
          <a:xfrm>
            <a:off x="838200" y="1564434"/>
            <a:ext cx="10515600" cy="4321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3556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Char char="•"/>
            </a:pPr>
            <a:r>
              <a:rPr lang="en-US" sz="2000"/>
              <a:t>Reduced RAM/stack pressure: SHA-256 constants moved to flash (PROGMEM) and W[64] uses a static buffer instead of stack.</a:t>
            </a:r>
            <a:endParaRPr sz="2000"/>
          </a:p>
        </p:txBody>
      </p:sp>
      <p:pic>
        <p:nvPicPr>
          <p:cNvPr id="117" name="Google Shape;117;g396eb07d7e1_0_74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678750" y="2967350"/>
            <a:ext cx="8915400" cy="28384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1" name="Shape 1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" name="Google Shape;122;g396eb07d7e1_0_83"/>
          <p:cNvSpPr txBox="1"/>
          <p:nvPr>
            <p:ph type="title"/>
          </p:nvPr>
        </p:nvSpPr>
        <p:spPr>
          <a:xfrm>
            <a:off x="838200" y="238871"/>
            <a:ext cx="10515600" cy="1325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3500"/>
              <a:buNone/>
            </a:pPr>
            <a:r>
              <a:rPr lang="en-US"/>
              <a:t>Task 3: (continue)</a:t>
            </a:r>
            <a:endParaRPr/>
          </a:p>
        </p:txBody>
      </p:sp>
      <p:sp>
        <p:nvSpPr>
          <p:cNvPr id="123" name="Google Shape;123;g396eb07d7e1_0_83"/>
          <p:cNvSpPr txBox="1"/>
          <p:nvPr>
            <p:ph idx="1" type="body"/>
          </p:nvPr>
        </p:nvSpPr>
        <p:spPr>
          <a:xfrm>
            <a:off x="838200" y="1564434"/>
            <a:ext cx="10515600" cy="4321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355600" lvl="0" marL="457200" rtl="0" algn="l">
              <a:lnSpc>
                <a:spcPct val="115000"/>
              </a:lnSpc>
              <a:spcBef>
                <a:spcPts val="500"/>
              </a:spcBef>
              <a:spcAft>
                <a:spcPts val="0"/>
              </a:spcAft>
              <a:buClr>
                <a:srgbClr val="000000"/>
              </a:buClr>
              <a:buSzPts val="2000"/>
              <a:buChar char="•"/>
            </a:pPr>
            <a:r>
              <a:rPr lang="en-US" sz="2000"/>
              <a:t>Mitigated brownouts: disable buzzer + LEDs during hashing/EEPROM operations to reduce peak current and rail dips.</a:t>
            </a:r>
            <a:endParaRPr sz="2000"/>
          </a:p>
        </p:txBody>
      </p:sp>
      <p:pic>
        <p:nvPicPr>
          <p:cNvPr id="124" name="Google Shape;124;g396eb07d7e1_0_83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351075" y="3031263"/>
            <a:ext cx="7543800" cy="25622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8" name="Shape 1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9" name="Google Shape;129;g3d5e9c351c5_0_55"/>
          <p:cNvSpPr txBox="1"/>
          <p:nvPr>
            <p:ph type="title"/>
          </p:nvPr>
        </p:nvSpPr>
        <p:spPr>
          <a:xfrm>
            <a:off x="838200" y="238871"/>
            <a:ext cx="10515600" cy="1325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3500"/>
              <a:buNone/>
            </a:pPr>
            <a:r>
              <a:rPr lang="en-US"/>
              <a:t>Task 3: (continue)</a:t>
            </a:r>
            <a:endParaRPr/>
          </a:p>
        </p:txBody>
      </p:sp>
      <p:sp>
        <p:nvSpPr>
          <p:cNvPr id="130" name="Google Shape;130;g3d5e9c351c5_0_55"/>
          <p:cNvSpPr txBox="1"/>
          <p:nvPr>
            <p:ph idx="1" type="body"/>
          </p:nvPr>
        </p:nvSpPr>
        <p:spPr>
          <a:xfrm>
            <a:off x="838200" y="1564434"/>
            <a:ext cx="10515600" cy="4321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355600" lvl="0" marL="457200" rtl="0" algn="l">
              <a:lnSpc>
                <a:spcPct val="115000"/>
              </a:lnSpc>
              <a:spcBef>
                <a:spcPts val="500"/>
              </a:spcBef>
              <a:spcAft>
                <a:spcPts val="0"/>
              </a:spcAft>
              <a:buClr>
                <a:srgbClr val="000000"/>
              </a:buClr>
              <a:buSzPts val="2000"/>
              <a:buChar char="•"/>
            </a:pPr>
            <a:r>
              <a:rPr lang="en-US" sz="2000"/>
              <a:t>Brownout-safe EEPROM writes: invalidate magic first, stagger writes with delays, then commit ‘magic’ last so partial writes aren’t treated as valid.</a:t>
            </a:r>
            <a:endParaRPr sz="2000"/>
          </a:p>
        </p:txBody>
      </p:sp>
      <p:pic>
        <p:nvPicPr>
          <p:cNvPr id="131" name="Google Shape;131;g3d5e9c351c5_0_55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369997" y="2604650"/>
            <a:ext cx="5678050" cy="39487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5" name="Shape 1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6" name="Google Shape;136;g3c87ce2a240_0_37"/>
          <p:cNvSpPr txBox="1"/>
          <p:nvPr>
            <p:ph type="title"/>
          </p:nvPr>
        </p:nvSpPr>
        <p:spPr>
          <a:xfrm>
            <a:off x="838200" y="238871"/>
            <a:ext cx="10515600" cy="1325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3500"/>
              <a:buNone/>
            </a:pPr>
            <a:r>
              <a:rPr lang="en-US"/>
              <a:t>Exceptional points</a:t>
            </a:r>
            <a:endParaRPr/>
          </a:p>
        </p:txBody>
      </p:sp>
      <p:sp>
        <p:nvSpPr>
          <p:cNvPr id="137" name="Google Shape;137;g3c87ce2a240_0_37"/>
          <p:cNvSpPr txBox="1"/>
          <p:nvPr>
            <p:ph idx="1" type="body"/>
          </p:nvPr>
        </p:nvSpPr>
        <p:spPr>
          <a:xfrm>
            <a:off x="838200" y="1564434"/>
            <a:ext cx="10515600" cy="4321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 fontScale="77500" lnSpcReduction="20000"/>
          </a:bodyPr>
          <a:lstStyle/>
          <a:p>
            <a:pPr indent="-417195" lvl="0" marL="5080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SzPct val="100000"/>
              <a:buFont typeface="Arial"/>
              <a:buChar char="•"/>
            </a:pPr>
            <a:r>
              <a:rPr lang="en-US"/>
              <a:t>Method / Approach</a:t>
            </a:r>
            <a:endParaRPr/>
          </a:p>
          <a:p>
            <a:pPr indent="-366395" lvl="1" marL="9144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SzPct val="100000"/>
              <a:buChar char="•"/>
            </a:pPr>
            <a:r>
              <a:rPr lang="en-US"/>
              <a:t>Two-tier alerts with meaningful UX: separate warning (yellow) vs critical (red) patterns, and LEDs + buzzer blink in sync (same ON/OFF timing).</a:t>
            </a:r>
            <a:endParaRPr/>
          </a:p>
          <a:p>
            <a:pPr indent="-366395" lvl="1" marL="9144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SzPct val="100000"/>
              <a:buChar char="•"/>
            </a:pPr>
            <a:r>
              <a:rPr lang="en-US"/>
              <a:t>Salted hashing, no plaintext: store only 16‑byte salt + SHA‑256(salt‖password) in EEPROM (password never stored/read back).</a:t>
            </a:r>
            <a:endParaRPr/>
          </a:p>
          <a:p>
            <a:pPr indent="-366395" lvl="1" marL="9144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SzPct val="100000"/>
              <a:buChar char="•"/>
            </a:pPr>
            <a:r>
              <a:rPr lang="en-US"/>
              <a:t>Constant‑time verify: compare hashes with a constant‑time function to avoid timing leaks.</a:t>
            </a:r>
            <a:endParaRPr/>
          </a:p>
          <a:p>
            <a:pPr indent="-366395" lvl="1" marL="9144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SzPct val="100000"/>
              <a:buChar char="•"/>
            </a:pPr>
            <a:r>
              <a:rPr lang="en-US"/>
              <a:t>Brownout‑resilient EEPROM format: magic‑last commit so a mid‑write reset can’t create a “valid but corrupted” password record.</a:t>
            </a:r>
            <a:endParaRPr/>
          </a:p>
          <a:p>
            <a:pPr indent="-366395" lvl="1" marL="9144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SzPct val="100000"/>
              <a:buChar char="•"/>
            </a:pPr>
            <a:r>
              <a:rPr lang="en-US"/>
              <a:t>Migration support: auto‑detect and upgrade legacy plaintext EEPROM records on boot (backwards compatible).</a:t>
            </a:r>
            <a:endParaRPr/>
          </a:p>
          <a:p>
            <a:pPr indent="-366395" lvl="1" marL="9144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SzPct val="100000"/>
              <a:buChar char="•"/>
            </a:pPr>
            <a:r>
              <a:rPr lang="en-US"/>
              <a:t>Hardware-aware crypto: reduced failure rate by load‑shedding during hash/EEPROM (turn off buzzer/LEDs) and reducing RAM/stack pressure so security works reliably with the rest of the system.</a:t>
            </a:r>
            <a:endParaRPr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1" name="Shape 1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2" name="Google Shape;142;p6"/>
          <p:cNvSpPr txBox="1"/>
          <p:nvPr>
            <p:ph type="title"/>
          </p:nvPr>
        </p:nvSpPr>
        <p:spPr>
          <a:xfrm>
            <a:off x="838200" y="238871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3500"/>
              <a:buNone/>
            </a:pPr>
            <a:r>
              <a:rPr lang="en-US"/>
              <a:t>Plan for Next Week</a:t>
            </a:r>
            <a:endParaRPr/>
          </a:p>
        </p:txBody>
      </p:sp>
      <p:sp>
        <p:nvSpPr>
          <p:cNvPr id="143" name="Google Shape;143;p6"/>
          <p:cNvSpPr txBox="1"/>
          <p:nvPr>
            <p:ph idx="1" type="body"/>
          </p:nvPr>
        </p:nvSpPr>
        <p:spPr>
          <a:xfrm>
            <a:off x="838200" y="1564434"/>
            <a:ext cx="10515600" cy="432107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457200" lvl="0" marL="5080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SzPts val="2800"/>
              <a:buFont typeface="Arial"/>
              <a:buChar char="•"/>
            </a:pPr>
            <a:r>
              <a:rPr lang="en-US"/>
              <a:t>List the tasks that are planned for the following week</a:t>
            </a:r>
            <a:endParaRPr/>
          </a:p>
          <a:p>
            <a:pPr indent="-406400" lvl="1" marL="9144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SzPts val="2800"/>
              <a:buChar char="•"/>
            </a:pPr>
            <a:r>
              <a:rPr lang="en-US"/>
              <a:t>Finish milestone 4e </a:t>
            </a:r>
            <a:endParaRPr/>
          </a:p>
          <a:p>
            <a:pPr indent="-406400" lvl="1" marL="9144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SzPts val="2800"/>
              <a:buChar char="•"/>
            </a:pPr>
            <a:r>
              <a:rPr lang="en-US"/>
              <a:t>Figure out the servo issue and get it working on the 5v rail.</a:t>
            </a:r>
            <a:endParaRPr/>
          </a:p>
          <a:p>
            <a:pPr indent="-457200" lvl="0" marL="5080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SzPts val="2800"/>
              <a:buFont typeface="Arial"/>
              <a:buChar char="•"/>
            </a:pPr>
            <a:r>
              <a:rPr lang="en-US"/>
              <a:t>Expected deliverables</a:t>
            </a:r>
            <a:endParaRPr/>
          </a:p>
          <a:p>
            <a:pPr indent="-406400" lvl="1" marL="9144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SzPts val="2800"/>
              <a:buChar char="•"/>
            </a:pPr>
            <a:r>
              <a:rPr lang="en-US"/>
              <a:t>Demonstrate that the entire system works with all required features and the additional optional features that your team selected. (10%)</a:t>
            </a:r>
            <a:endParaRPr/>
          </a:p>
          <a:p>
            <a:pPr indent="-406400" lvl="1" marL="9144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SzPts val="2800"/>
              <a:buChar char="•"/>
            </a:pPr>
            <a:r>
              <a:rPr lang="en-US"/>
              <a:t>Servo on the 5v rail</a:t>
            </a:r>
            <a:endParaRPr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1_Office Theme">
  <a:themeElements>
    <a:clrScheme name="Custom 2">
      <a:dk1>
        <a:srgbClr val="861F41"/>
      </a:dk1>
      <a:lt1>
        <a:srgbClr val="FFFFFF"/>
      </a:lt1>
      <a:dk2>
        <a:srgbClr val="75787B"/>
      </a:dk2>
      <a:lt2>
        <a:srgbClr val="E5E1E6"/>
      </a:lt2>
      <a:accent1>
        <a:srgbClr val="861F41"/>
      </a:accent1>
      <a:accent2>
        <a:srgbClr val="C64600"/>
      </a:accent2>
      <a:accent3>
        <a:srgbClr val="A5A5A5"/>
      </a:accent3>
      <a:accent4>
        <a:srgbClr val="508590"/>
      </a:accent4>
      <a:accent5>
        <a:srgbClr val="E5E1E6"/>
      </a:accent5>
      <a:accent6>
        <a:srgbClr val="003C71"/>
      </a:accent6>
      <a:hlink>
        <a:srgbClr val="0000FF"/>
      </a:hlink>
      <a:folHlink>
        <a:srgbClr val="FF00FF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Office Theme">
  <a:themeElements>
    <a:clrScheme name="Office Theme">
      <a:dk1>
        <a:srgbClr val="6C1035"/>
      </a:dk1>
      <a:lt1>
        <a:srgbClr val="5C6C66"/>
      </a:lt1>
      <a:dk2>
        <a:srgbClr val="A7A7A7"/>
      </a:dk2>
      <a:lt2>
        <a:srgbClr val="535353"/>
      </a:lt2>
      <a:accent1>
        <a:srgbClr val="6C1035"/>
      </a:accent1>
      <a:accent2>
        <a:srgbClr val="E57631"/>
      </a:accent2>
      <a:accent3>
        <a:srgbClr val="A5A5A5"/>
      </a:accent3>
      <a:accent4>
        <a:srgbClr val="417C79"/>
      </a:accent4>
      <a:accent5>
        <a:srgbClr val="E5E1EF"/>
      </a:accent5>
      <a:accent6>
        <a:srgbClr val="003C71"/>
      </a:accent6>
      <a:hlink>
        <a:srgbClr val="0000FF"/>
      </a:hlink>
      <a:folHlink>
        <a:srgbClr val="FF00FF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creator>Schlieper, Elizabeth</dc:creator>
</cp:coreProperties>
</file>